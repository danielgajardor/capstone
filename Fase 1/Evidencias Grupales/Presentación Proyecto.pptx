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swald" charset="1" panose="00000500000000000000"/>
      <p:regular r:id="rId17"/>
    </p:embeddedFont>
    <p:embeddedFont>
      <p:font typeface="Montserrat" charset="1" panose="00000500000000000000"/>
      <p:regular r:id="rId18"/>
    </p:embeddedFont>
    <p:embeddedFont>
      <p:font typeface="Montserrat Bold" charset="1" panose="00000800000000000000"/>
      <p:regular r:id="rId19"/>
    </p:embeddedFont>
    <p:embeddedFont>
      <p:font typeface="Montserrat Italic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180" t="-37075" r="-6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028700" y="0"/>
            <a:ext cx="4660594" cy="10287765"/>
            <a:chOff x="0" y="0"/>
            <a:chExt cx="406400" cy="8970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400" cy="897085"/>
            </a:xfrm>
            <a:custGeom>
              <a:avLst/>
              <a:gdLst/>
              <a:ahLst/>
              <a:cxnLst/>
              <a:rect r="r" b="b" t="t" l="l"/>
              <a:pathLst>
                <a:path h="897085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448542"/>
                  </a:lnTo>
                  <a:lnTo>
                    <a:pt x="203200" y="897085"/>
                  </a:lnTo>
                  <a:lnTo>
                    <a:pt x="0" y="897085"/>
                  </a:lnTo>
                  <a:lnTo>
                    <a:pt x="203200" y="4485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753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77800" y="-57150"/>
              <a:ext cx="152400" cy="954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711533" y="895219"/>
            <a:ext cx="5918260" cy="1454906"/>
          </a:xfrm>
          <a:custGeom>
            <a:avLst/>
            <a:gdLst/>
            <a:ahLst/>
            <a:cxnLst/>
            <a:rect r="r" b="b" t="t" l="l"/>
            <a:pathLst>
              <a:path h="1454906" w="5918260">
                <a:moveTo>
                  <a:pt x="0" y="0"/>
                </a:moveTo>
                <a:lnTo>
                  <a:pt x="5918260" y="0"/>
                </a:lnTo>
                <a:lnTo>
                  <a:pt x="5918260" y="1454906"/>
                </a:lnTo>
                <a:lnTo>
                  <a:pt x="0" y="1454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59028" y="3359930"/>
            <a:ext cx="14470765" cy="344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843"/>
              </a:lnSpc>
              <a:spcBef>
                <a:spcPct val="0"/>
              </a:spcBef>
            </a:pPr>
            <a:r>
              <a:rPr lang="en-US" sz="9888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</a:t>
            </a:r>
            <a:r>
              <a:rPr lang="en-US" sz="9888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ISTEMA ATILSON CARGO</a:t>
            </a:r>
          </a:p>
          <a:p>
            <a:pPr algn="r">
              <a:lnSpc>
                <a:spcPts val="13843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941893" y="5274874"/>
            <a:ext cx="11687900" cy="236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1"/>
              </a:lnSpc>
            </a:pPr>
            <a:r>
              <a:rPr lang="en-US" sz="33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Plataforma integral de gestión logística, trazabilidad y control financiero para contenedores marítimos y terrestres.</a:t>
            </a:r>
          </a:p>
          <a:p>
            <a:pPr algn="l">
              <a:lnSpc>
                <a:spcPts val="4731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156662" y="8351884"/>
            <a:ext cx="779276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Integrantes: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Daniel Gajardo | Nelson Mellado | Benjamín Cona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27141" y="5483982"/>
            <a:ext cx="11720563" cy="3774318"/>
            <a:chOff x="0" y="0"/>
            <a:chExt cx="3086897" cy="9940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86897" cy="994059"/>
            </a:xfrm>
            <a:custGeom>
              <a:avLst/>
              <a:gdLst/>
              <a:ahLst/>
              <a:cxnLst/>
              <a:rect r="r" b="b" t="t" l="l"/>
              <a:pathLst>
                <a:path h="994059" w="3086897">
                  <a:moveTo>
                    <a:pt x="0" y="0"/>
                  </a:moveTo>
                  <a:lnTo>
                    <a:pt x="3086897" y="0"/>
                  </a:lnTo>
                  <a:lnTo>
                    <a:pt x="3086897" y="994059"/>
                  </a:lnTo>
                  <a:lnTo>
                    <a:pt x="0" y="994059"/>
                  </a:lnTo>
                  <a:close/>
                </a:path>
              </a:pathLst>
            </a:custGeom>
            <a:solidFill>
              <a:srgbClr val="FE753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86897" cy="1032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40577" y="1901357"/>
            <a:ext cx="7319322" cy="7356943"/>
            <a:chOff x="0" y="0"/>
            <a:chExt cx="8859019" cy="89045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59019" cy="8904555"/>
            </a:xfrm>
            <a:custGeom>
              <a:avLst/>
              <a:gdLst/>
              <a:ahLst/>
              <a:cxnLst/>
              <a:rect r="r" b="b" t="t" l="l"/>
              <a:pathLst>
                <a:path h="8904555" w="8859019">
                  <a:moveTo>
                    <a:pt x="8859019" y="0"/>
                  </a:moveTo>
                  <a:lnTo>
                    <a:pt x="5671172" y="8904555"/>
                  </a:lnTo>
                  <a:lnTo>
                    <a:pt x="0" y="8904555"/>
                  </a:lnTo>
                  <a:lnTo>
                    <a:pt x="3150739" y="0"/>
                  </a:lnTo>
                  <a:lnTo>
                    <a:pt x="8859019" y="0"/>
                  </a:lnTo>
                  <a:close/>
                </a:path>
              </a:pathLst>
            </a:custGeom>
            <a:blipFill>
              <a:blip r:embed="rId2"/>
              <a:stretch>
                <a:fillRect l="-42214" t="0" r="-4221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-1022422"/>
            <a:ext cx="7319322" cy="7356943"/>
            <a:chOff x="0" y="0"/>
            <a:chExt cx="8859019" cy="89045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59019" cy="8904555"/>
            </a:xfrm>
            <a:custGeom>
              <a:avLst/>
              <a:gdLst/>
              <a:ahLst/>
              <a:cxnLst/>
              <a:rect r="r" b="b" t="t" l="l"/>
              <a:pathLst>
                <a:path h="8904555" w="8859019">
                  <a:moveTo>
                    <a:pt x="8859019" y="0"/>
                  </a:moveTo>
                  <a:lnTo>
                    <a:pt x="5671172" y="8904555"/>
                  </a:lnTo>
                  <a:lnTo>
                    <a:pt x="0" y="8904555"/>
                  </a:lnTo>
                  <a:lnTo>
                    <a:pt x="3150739" y="0"/>
                  </a:lnTo>
                  <a:lnTo>
                    <a:pt x="8859019" y="0"/>
                  </a:lnTo>
                  <a:close/>
                </a:path>
              </a:pathLst>
            </a:custGeom>
            <a:blipFill>
              <a:blip r:embed="rId3"/>
              <a:stretch>
                <a:fillRect l="-15015" t="0" r="-35683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459899" y="1948982"/>
            <a:ext cx="6692412" cy="186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6500" spc="19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Contexto y Desafío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04905" y="5798881"/>
            <a:ext cx="6494996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Atils</a:t>
            </a: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 Cargo SpA opera actualmente con procesos manuales y poco estructurados para gestionar operaciones complejas.</a:t>
            </a:r>
          </a:p>
          <a:p>
            <a:pPr algn="l">
              <a:lnSpc>
                <a:spcPts val="3359"/>
              </a:lnSpc>
            </a:pP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Ineficiencia Operativa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Alto Margen de Error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Información Descentralizada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8700"/>
            <a:ext cx="4174374" cy="1883745"/>
            <a:chOff x="0" y="0"/>
            <a:chExt cx="1099424" cy="4961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9424" cy="496130"/>
            </a:xfrm>
            <a:custGeom>
              <a:avLst/>
              <a:gdLst/>
              <a:ahLst/>
              <a:cxnLst/>
              <a:rect r="r" b="b" t="t" l="l"/>
              <a:pathLst>
                <a:path h="496130" w="1099424">
                  <a:moveTo>
                    <a:pt x="0" y="0"/>
                  </a:moveTo>
                  <a:lnTo>
                    <a:pt x="1099424" y="0"/>
                  </a:lnTo>
                  <a:lnTo>
                    <a:pt x="1099424" y="496130"/>
                  </a:lnTo>
                  <a:lnTo>
                    <a:pt x="0" y="496130"/>
                  </a:lnTo>
                  <a:close/>
                </a:path>
              </a:pathLst>
            </a:custGeom>
            <a:solidFill>
              <a:srgbClr val="FE753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9424" cy="534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62456" y="5688978"/>
            <a:ext cx="5172376" cy="3362044"/>
          </a:xfrm>
          <a:custGeom>
            <a:avLst/>
            <a:gdLst/>
            <a:ahLst/>
            <a:cxnLst/>
            <a:rect r="r" b="b" t="t" l="l"/>
            <a:pathLst>
              <a:path h="3362044" w="5172376">
                <a:moveTo>
                  <a:pt x="0" y="0"/>
                </a:moveTo>
                <a:lnTo>
                  <a:pt x="5172376" y="0"/>
                </a:lnTo>
                <a:lnTo>
                  <a:pt x="5172376" y="3362044"/>
                </a:lnTo>
                <a:lnTo>
                  <a:pt x="0" y="3362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38136" y="1924089"/>
            <a:ext cx="5279136" cy="279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6500" spc="19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Solución Propuesta</a:t>
            </a:r>
          </a:p>
          <a:p>
            <a:pPr algn="l">
              <a:lnSpc>
                <a:spcPts val="72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612652" y="1367355"/>
            <a:ext cx="10646648" cy="18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5"/>
              </a:lnSpc>
            </a:pPr>
            <a:r>
              <a:rPr lang="en-US" sz="260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</a:t>
            </a:r>
            <a:r>
              <a:rPr lang="en-US" sz="260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Sistema de Gestión Logística web centralizado que optimiza los tiempos operativos y reduce drásticamente las fallas mediante módulos integrados.</a:t>
            </a:r>
          </a:p>
          <a:p>
            <a:pPr algn="just">
              <a:lnSpc>
                <a:spcPts val="364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38136" y="6173182"/>
            <a:ext cx="4621015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999" spc="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 Operativo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90619" y="5688978"/>
            <a:ext cx="5172376" cy="3362044"/>
          </a:xfrm>
          <a:custGeom>
            <a:avLst/>
            <a:gdLst/>
            <a:ahLst/>
            <a:cxnLst/>
            <a:rect r="r" b="b" t="t" l="l"/>
            <a:pathLst>
              <a:path h="3362044" w="5172376">
                <a:moveTo>
                  <a:pt x="0" y="0"/>
                </a:moveTo>
                <a:lnTo>
                  <a:pt x="5172376" y="0"/>
                </a:lnTo>
                <a:lnTo>
                  <a:pt x="5172376" y="3362044"/>
                </a:lnTo>
                <a:lnTo>
                  <a:pt x="0" y="3362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66300" y="6173182"/>
            <a:ext cx="4621015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999" spc="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Finanzas y Comercial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218782" y="5688978"/>
            <a:ext cx="5172376" cy="3362044"/>
          </a:xfrm>
          <a:custGeom>
            <a:avLst/>
            <a:gdLst/>
            <a:ahLst/>
            <a:cxnLst/>
            <a:rect r="r" b="b" t="t" l="l"/>
            <a:pathLst>
              <a:path h="3362044" w="5172376">
                <a:moveTo>
                  <a:pt x="0" y="0"/>
                </a:moveTo>
                <a:lnTo>
                  <a:pt x="5172376" y="0"/>
                </a:lnTo>
                <a:lnTo>
                  <a:pt x="5172376" y="3362044"/>
                </a:lnTo>
                <a:lnTo>
                  <a:pt x="0" y="3362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494463" y="6173182"/>
            <a:ext cx="4621015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999" spc="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Interactivo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8136" y="6873281"/>
            <a:ext cx="4621015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Trazabilidad en tiempo real de cargas y contenedores, automatizando el flujo de trabajo logístico.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766300" y="6873281"/>
            <a:ext cx="4621015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</a:t>
            </a: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ión de flujo de caja, control de ingresos/egresos, cierres de negocios y comparación de tarifas.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494463" y="7116177"/>
            <a:ext cx="4621015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anel de control con métricas críticas en tiempo real y perfiles de acceso estructurados (Admin, Operador, Cliente).</a:t>
            </a:r>
          </a:p>
          <a:p>
            <a:pPr algn="just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23648" y="1028700"/>
            <a:ext cx="10135652" cy="1851209"/>
            <a:chOff x="0" y="0"/>
            <a:chExt cx="2669472" cy="487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9472" cy="487561"/>
            </a:xfrm>
            <a:custGeom>
              <a:avLst/>
              <a:gdLst/>
              <a:ahLst/>
              <a:cxnLst/>
              <a:rect r="r" b="b" t="t" l="l"/>
              <a:pathLst>
                <a:path h="487561" w="2669472">
                  <a:moveTo>
                    <a:pt x="0" y="0"/>
                  </a:moveTo>
                  <a:lnTo>
                    <a:pt x="2669472" y="0"/>
                  </a:lnTo>
                  <a:lnTo>
                    <a:pt x="2669472" y="487561"/>
                  </a:lnTo>
                  <a:lnTo>
                    <a:pt x="0" y="487561"/>
                  </a:lnTo>
                  <a:close/>
                </a:path>
              </a:pathLst>
            </a:custGeom>
            <a:solidFill>
              <a:srgbClr val="FE753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69472" cy="525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92807" y="1413656"/>
            <a:ext cx="10997334" cy="169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8"/>
              </a:lnSpc>
            </a:pPr>
            <a:r>
              <a:rPr lang="en-US" b="true" sz="5900" spc="1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 del Proyecto</a:t>
            </a:r>
          </a:p>
          <a:p>
            <a:pPr algn="ctr">
              <a:lnSpc>
                <a:spcPts val="660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02067" y="3926318"/>
            <a:ext cx="15056568" cy="85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ARQUITECTURA DE DATOS: </a:t>
            </a: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Diseñar e implementar un modelo de base de datos relacional robusto para centralizar clientes, envíos y rutas.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4764" y="3916793"/>
            <a:ext cx="1214606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01.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2067" y="5050706"/>
            <a:ext cx="14767360" cy="85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SEGURIDAD Y ROLES: </a:t>
            </a: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Desarrollar un módulo de gestión de usuarios con autenticación y autorización basada en perfiles estrictos.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4764" y="5041181"/>
            <a:ext cx="1214606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02.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2067" y="6177832"/>
            <a:ext cx="15657233" cy="85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TRAZABILIDAD Y LOGÍSTICA: </a:t>
            </a: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Construir el módulo de control de operaciones para el registro, actualización y seguimiento de cargas.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4764" y="6168307"/>
            <a:ext cx="1214606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03.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2067" y="7304957"/>
            <a:ext cx="14900841" cy="85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ESTIÓN ADMINISTRATIVA: </a:t>
            </a: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Integrar módulos financieros y comerciales para ordenar la rentabilidad, facturas y costos asociados.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4764" y="7295432"/>
            <a:ext cx="1214606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04.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36003" y="8432083"/>
            <a:ext cx="15623297" cy="85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PORTAL DE CLIENTES:</a:t>
            </a: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Construir un sitio web corporativo y una vista dedicada para que los clientes monitoreen sus servicios.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422558"/>
            <a:ext cx="1214606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05.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3966" y="6294599"/>
            <a:ext cx="3621633" cy="686315"/>
          </a:xfrm>
          <a:custGeom>
            <a:avLst/>
            <a:gdLst/>
            <a:ahLst/>
            <a:cxnLst/>
            <a:rect r="r" b="b" t="t" l="l"/>
            <a:pathLst>
              <a:path h="686315" w="3621633">
                <a:moveTo>
                  <a:pt x="0" y="0"/>
                </a:moveTo>
                <a:lnTo>
                  <a:pt x="3621632" y="0"/>
                </a:lnTo>
                <a:lnTo>
                  <a:pt x="3621632" y="686315"/>
                </a:lnTo>
                <a:lnTo>
                  <a:pt x="0" y="686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87081" y="6294599"/>
            <a:ext cx="3621633" cy="686315"/>
          </a:xfrm>
          <a:custGeom>
            <a:avLst/>
            <a:gdLst/>
            <a:ahLst/>
            <a:cxnLst/>
            <a:rect r="r" b="b" t="t" l="l"/>
            <a:pathLst>
              <a:path h="686315" w="3621633">
                <a:moveTo>
                  <a:pt x="0" y="0"/>
                </a:moveTo>
                <a:lnTo>
                  <a:pt x="3621633" y="0"/>
                </a:lnTo>
                <a:lnTo>
                  <a:pt x="3621633" y="686315"/>
                </a:lnTo>
                <a:lnTo>
                  <a:pt x="0" y="686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63825" y="6294599"/>
            <a:ext cx="3621633" cy="686315"/>
          </a:xfrm>
          <a:custGeom>
            <a:avLst/>
            <a:gdLst/>
            <a:ahLst/>
            <a:cxnLst/>
            <a:rect r="r" b="b" t="t" l="l"/>
            <a:pathLst>
              <a:path h="686315" w="3621633">
                <a:moveTo>
                  <a:pt x="0" y="0"/>
                </a:moveTo>
                <a:lnTo>
                  <a:pt x="3621633" y="0"/>
                </a:lnTo>
                <a:lnTo>
                  <a:pt x="3621633" y="686315"/>
                </a:lnTo>
                <a:lnTo>
                  <a:pt x="0" y="686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26545" y="2750504"/>
            <a:ext cx="3144045" cy="3144045"/>
            <a:chOff x="0" y="0"/>
            <a:chExt cx="13716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4"/>
              <a:stretch>
                <a:fillRect l="-51554" t="-115682" r="-369481" b="-7740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432089" y="2750504"/>
            <a:ext cx="3144045" cy="3144045"/>
            <a:chOff x="0" y="0"/>
            <a:chExt cx="13716000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-175394" t="-96333" r="-173715" b="-5629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021645" y="2750504"/>
            <a:ext cx="3144045" cy="3144045"/>
            <a:chOff x="0" y="0"/>
            <a:chExt cx="13716000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6"/>
              <a:stretch>
                <a:fillRect l="-263702" t="-78120" r="-14251" b="-34478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38974" y="1076325"/>
            <a:ext cx="10122625" cy="94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6500" spc="19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Equipo de trabajo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32089" y="6444400"/>
            <a:ext cx="3131617" cy="3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b="true" sz="20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Nelson Mellado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08833" y="6444400"/>
            <a:ext cx="3131617" cy="3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b="true" sz="20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Benjamin Cona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8974" y="6444400"/>
            <a:ext cx="3131617" cy="3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b="true" sz="20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Daniel Gajardo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32089" y="7152971"/>
            <a:ext cx="4741186" cy="3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0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Especialista UX / Infraestructura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08833" y="7152971"/>
            <a:ext cx="3621047" cy="3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b="true" sz="20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Ingeniero QA / Frontend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38974" y="7152971"/>
            <a:ext cx="5061312" cy="3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0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Líder de Proyecto /  Desarrollador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38974" y="7671841"/>
            <a:ext cx="4132724" cy="251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0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cargo de la arquitectura global y el desarrollo del sistema principal. Controla la lógica de negocio, base de datos e integración de los módulos centrales.</a:t>
            </a:r>
          </a:p>
          <a:p>
            <a:pPr algn="ctr">
              <a:lnSpc>
                <a:spcPts val="290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7432089" y="7671841"/>
            <a:ext cx="4229509" cy="215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0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Encargado de la Experiencia de Usuario (UX), evaluación del servidor VPS para despliegue e investigación de integraciones de APIs navieras.</a:t>
            </a:r>
          </a:p>
          <a:p>
            <a:pPr algn="ctr">
              <a:lnSpc>
                <a:spcPts val="290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021645" y="7671841"/>
            <a:ext cx="4229509" cy="251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0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Responsable del Aseguramiento de Calidad (QA), pruebas de estrés y construcción de la vista interactiva específica para los clientes finales.</a:t>
            </a:r>
          </a:p>
          <a:p>
            <a:pPr algn="ctr">
              <a:lnSpc>
                <a:spcPts val="29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3410"/>
            <a:ext cx="2705846" cy="10243590"/>
            <a:chOff x="0" y="0"/>
            <a:chExt cx="712651" cy="2697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651" cy="2697900"/>
            </a:xfrm>
            <a:custGeom>
              <a:avLst/>
              <a:gdLst/>
              <a:ahLst/>
              <a:cxnLst/>
              <a:rect r="r" b="b" t="t" l="l"/>
              <a:pathLst>
                <a:path h="2697900" w="712651">
                  <a:moveTo>
                    <a:pt x="0" y="0"/>
                  </a:moveTo>
                  <a:lnTo>
                    <a:pt x="712651" y="0"/>
                  </a:lnTo>
                  <a:lnTo>
                    <a:pt x="712651" y="2697900"/>
                  </a:lnTo>
                  <a:lnTo>
                    <a:pt x="0" y="2697900"/>
                  </a:lnTo>
                  <a:close/>
                </a:path>
              </a:pathLst>
            </a:custGeom>
            <a:solidFill>
              <a:srgbClr val="FE753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651" cy="273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51279" y="2901342"/>
            <a:ext cx="9090501" cy="6356958"/>
          </a:xfrm>
          <a:custGeom>
            <a:avLst/>
            <a:gdLst/>
            <a:ahLst/>
            <a:cxnLst/>
            <a:rect r="r" b="b" t="t" l="l"/>
            <a:pathLst>
              <a:path h="6356958" w="9090501">
                <a:moveTo>
                  <a:pt x="0" y="0"/>
                </a:moveTo>
                <a:lnTo>
                  <a:pt x="9090501" y="0"/>
                </a:lnTo>
                <a:lnTo>
                  <a:pt x="9090501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89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72780" y="1076325"/>
            <a:ext cx="9028328" cy="186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6500" spc="19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  (Kanban)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96313" y="3191828"/>
            <a:ext cx="9375887" cy="523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3" indent="-269871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</a:t>
            </a: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estión del Flujo: </a:t>
            </a: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Utilización de tableros visuales para el seguimiento continuo de tareas (pendientes, en proceso y finalizadas).</a:t>
            </a:r>
          </a:p>
          <a:p>
            <a:pPr algn="l">
              <a:lnSpc>
                <a:spcPts val="3499"/>
              </a:lnSpc>
            </a:pPr>
          </a:p>
          <a:p>
            <a:pPr algn="l" marL="539743" indent="-269871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Flexibilidad Operativa: </a:t>
            </a: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Control adaptativo y priorización dinámica de requerimientos según las necesidades de Atilson Cargo.</a:t>
            </a:r>
          </a:p>
          <a:p>
            <a:pPr algn="l">
              <a:lnSpc>
                <a:spcPts val="3499"/>
              </a:lnSpc>
            </a:pPr>
          </a:p>
          <a:p>
            <a:pPr algn="l" marL="539743" indent="-269871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Optimización: </a:t>
            </a: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Enfoque en la entrega iterativa, transparencia de avance y asignación eficiente de roles según las cargas de trabajo.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283642" y="3229928"/>
            <a:ext cx="2312670" cy="1161098"/>
            <a:chOff x="0" y="0"/>
            <a:chExt cx="3083560" cy="15481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329" y="50139"/>
              <a:ext cx="2983365" cy="1447191"/>
            </a:xfrm>
            <a:custGeom>
              <a:avLst/>
              <a:gdLst/>
              <a:ahLst/>
              <a:cxnLst/>
              <a:rect r="r" b="b" t="t" l="l"/>
              <a:pathLst>
                <a:path h="1447191" w="2983365">
                  <a:moveTo>
                    <a:pt x="2457921" y="1278281"/>
                  </a:moveTo>
                  <a:cubicBezTo>
                    <a:pt x="1830541" y="1395121"/>
                    <a:pt x="1607021" y="1447191"/>
                    <a:pt x="1386041" y="1447191"/>
                  </a:cubicBezTo>
                  <a:cubicBezTo>
                    <a:pt x="1144741" y="1447191"/>
                    <a:pt x="655791" y="1302411"/>
                    <a:pt x="629121" y="1346861"/>
                  </a:cubicBezTo>
                  <a:cubicBezTo>
                    <a:pt x="620231" y="1362101"/>
                    <a:pt x="683731" y="1405281"/>
                    <a:pt x="676111" y="1416711"/>
                  </a:cubicBezTo>
                  <a:cubicBezTo>
                    <a:pt x="664681" y="1435761"/>
                    <a:pt x="528791" y="1404011"/>
                    <a:pt x="460211" y="1381151"/>
                  </a:cubicBezTo>
                  <a:cubicBezTo>
                    <a:pt x="391631" y="1358291"/>
                    <a:pt x="324321" y="1321461"/>
                    <a:pt x="267171" y="1278281"/>
                  </a:cubicBezTo>
                  <a:cubicBezTo>
                    <a:pt x="208751" y="1233831"/>
                    <a:pt x="156681" y="1177951"/>
                    <a:pt x="116041" y="1118261"/>
                  </a:cubicBezTo>
                  <a:cubicBezTo>
                    <a:pt x="75401" y="1058571"/>
                    <a:pt x="43651" y="988721"/>
                    <a:pt x="24601" y="918871"/>
                  </a:cubicBezTo>
                  <a:cubicBezTo>
                    <a:pt x="5551" y="850291"/>
                    <a:pt x="-3339" y="772821"/>
                    <a:pt x="1741" y="701701"/>
                  </a:cubicBezTo>
                  <a:cubicBezTo>
                    <a:pt x="5551" y="629311"/>
                    <a:pt x="22061" y="554381"/>
                    <a:pt x="48731" y="487071"/>
                  </a:cubicBezTo>
                  <a:cubicBezTo>
                    <a:pt x="75401" y="419761"/>
                    <a:pt x="116041" y="354991"/>
                    <a:pt x="161761" y="299111"/>
                  </a:cubicBezTo>
                  <a:cubicBezTo>
                    <a:pt x="208751" y="244501"/>
                    <a:pt x="267171" y="194971"/>
                    <a:pt x="329401" y="158141"/>
                  </a:cubicBezTo>
                  <a:cubicBezTo>
                    <a:pt x="391631" y="121311"/>
                    <a:pt x="462751" y="92101"/>
                    <a:pt x="533871" y="76861"/>
                  </a:cubicBezTo>
                  <a:cubicBezTo>
                    <a:pt x="603721" y="61621"/>
                    <a:pt x="681191" y="57811"/>
                    <a:pt x="752311" y="65431"/>
                  </a:cubicBezTo>
                  <a:cubicBezTo>
                    <a:pt x="824701" y="73051"/>
                    <a:pt x="898361" y="94641"/>
                    <a:pt x="963131" y="125121"/>
                  </a:cubicBezTo>
                  <a:cubicBezTo>
                    <a:pt x="1029171" y="155601"/>
                    <a:pt x="1092671" y="198781"/>
                    <a:pt x="1144741" y="248311"/>
                  </a:cubicBezTo>
                  <a:cubicBezTo>
                    <a:pt x="1196811" y="297841"/>
                    <a:pt x="1243801" y="358801"/>
                    <a:pt x="1276821" y="423571"/>
                  </a:cubicBezTo>
                  <a:cubicBezTo>
                    <a:pt x="1311111" y="487071"/>
                    <a:pt x="1335241" y="559461"/>
                    <a:pt x="1346671" y="630581"/>
                  </a:cubicBezTo>
                  <a:cubicBezTo>
                    <a:pt x="1358101" y="701701"/>
                    <a:pt x="1358101" y="779171"/>
                    <a:pt x="1346671" y="850291"/>
                  </a:cubicBezTo>
                  <a:cubicBezTo>
                    <a:pt x="1333971" y="921411"/>
                    <a:pt x="1309841" y="993801"/>
                    <a:pt x="1275551" y="1058571"/>
                  </a:cubicBezTo>
                  <a:cubicBezTo>
                    <a:pt x="1242531" y="1122071"/>
                    <a:pt x="1195541" y="1183031"/>
                    <a:pt x="1142201" y="1232561"/>
                  </a:cubicBezTo>
                  <a:cubicBezTo>
                    <a:pt x="1090131" y="1282091"/>
                    <a:pt x="1026631" y="1325271"/>
                    <a:pt x="960591" y="1354481"/>
                  </a:cubicBezTo>
                  <a:cubicBezTo>
                    <a:pt x="895821" y="1384961"/>
                    <a:pt x="820891" y="1405281"/>
                    <a:pt x="749771" y="1412901"/>
                  </a:cubicBezTo>
                  <a:cubicBezTo>
                    <a:pt x="677381" y="1420521"/>
                    <a:pt x="601181" y="1416711"/>
                    <a:pt x="531331" y="1400201"/>
                  </a:cubicBezTo>
                  <a:cubicBezTo>
                    <a:pt x="460211" y="1384961"/>
                    <a:pt x="389091" y="1357021"/>
                    <a:pt x="326861" y="1318921"/>
                  </a:cubicBezTo>
                  <a:cubicBezTo>
                    <a:pt x="265901" y="1282091"/>
                    <a:pt x="207481" y="1232561"/>
                    <a:pt x="160491" y="1176681"/>
                  </a:cubicBezTo>
                  <a:cubicBezTo>
                    <a:pt x="113501" y="1122071"/>
                    <a:pt x="74131" y="1056031"/>
                    <a:pt x="47461" y="988721"/>
                  </a:cubicBezTo>
                  <a:cubicBezTo>
                    <a:pt x="20791" y="921411"/>
                    <a:pt x="4281" y="846481"/>
                    <a:pt x="471" y="774091"/>
                  </a:cubicBezTo>
                  <a:cubicBezTo>
                    <a:pt x="-2069" y="702971"/>
                    <a:pt x="5551" y="625501"/>
                    <a:pt x="25871" y="556921"/>
                  </a:cubicBezTo>
                  <a:cubicBezTo>
                    <a:pt x="44921" y="487071"/>
                    <a:pt x="76671" y="417221"/>
                    <a:pt x="117311" y="357531"/>
                  </a:cubicBezTo>
                  <a:cubicBezTo>
                    <a:pt x="157951" y="297841"/>
                    <a:pt x="211291" y="241961"/>
                    <a:pt x="268441" y="198781"/>
                  </a:cubicBezTo>
                  <a:cubicBezTo>
                    <a:pt x="326861" y="155601"/>
                    <a:pt x="394171" y="120041"/>
                    <a:pt x="462751" y="97181"/>
                  </a:cubicBezTo>
                  <a:cubicBezTo>
                    <a:pt x="531331" y="74321"/>
                    <a:pt x="593561" y="62891"/>
                    <a:pt x="678651" y="61621"/>
                  </a:cubicBezTo>
                  <a:cubicBezTo>
                    <a:pt x="801841" y="59081"/>
                    <a:pt x="963131" y="112421"/>
                    <a:pt x="1126961" y="120041"/>
                  </a:cubicBezTo>
                  <a:cubicBezTo>
                    <a:pt x="1323811" y="127661"/>
                    <a:pt x="1586701" y="111151"/>
                    <a:pt x="1782281" y="89561"/>
                  </a:cubicBezTo>
                  <a:cubicBezTo>
                    <a:pt x="1943571" y="71781"/>
                    <a:pt x="2111211" y="24791"/>
                    <a:pt x="2220431" y="10821"/>
                  </a:cubicBezTo>
                  <a:cubicBezTo>
                    <a:pt x="2285201" y="3201"/>
                    <a:pt x="2323301" y="-1879"/>
                    <a:pt x="2375371" y="661"/>
                  </a:cubicBezTo>
                  <a:cubicBezTo>
                    <a:pt x="2426171" y="4471"/>
                    <a:pt x="2479511" y="13361"/>
                    <a:pt x="2527771" y="28601"/>
                  </a:cubicBezTo>
                  <a:cubicBezTo>
                    <a:pt x="2577301" y="43841"/>
                    <a:pt x="2625561" y="65431"/>
                    <a:pt x="2670011" y="92101"/>
                  </a:cubicBezTo>
                  <a:cubicBezTo>
                    <a:pt x="2714461" y="117501"/>
                    <a:pt x="2756371" y="150521"/>
                    <a:pt x="2793201" y="187351"/>
                  </a:cubicBezTo>
                  <a:cubicBezTo>
                    <a:pt x="2828761" y="222911"/>
                    <a:pt x="2861781" y="264821"/>
                    <a:pt x="2888451" y="309271"/>
                  </a:cubicBezTo>
                  <a:cubicBezTo>
                    <a:pt x="2916391" y="352451"/>
                    <a:pt x="2937981" y="400711"/>
                    <a:pt x="2953221" y="450241"/>
                  </a:cubicBezTo>
                  <a:cubicBezTo>
                    <a:pt x="2968461" y="499771"/>
                    <a:pt x="2978621" y="551841"/>
                    <a:pt x="2982431" y="602641"/>
                  </a:cubicBezTo>
                  <a:cubicBezTo>
                    <a:pt x="2984971" y="654711"/>
                    <a:pt x="2982431" y="706781"/>
                    <a:pt x="2973541" y="757581"/>
                  </a:cubicBezTo>
                  <a:cubicBezTo>
                    <a:pt x="2964651" y="808381"/>
                    <a:pt x="2948141" y="859181"/>
                    <a:pt x="2927821" y="906171"/>
                  </a:cubicBezTo>
                  <a:cubicBezTo>
                    <a:pt x="2906231" y="953161"/>
                    <a:pt x="2879561" y="998881"/>
                    <a:pt x="2847811" y="1039521"/>
                  </a:cubicBezTo>
                  <a:cubicBezTo>
                    <a:pt x="2816061" y="1080161"/>
                    <a:pt x="2779231" y="1118261"/>
                    <a:pt x="2738591" y="1150011"/>
                  </a:cubicBezTo>
                  <a:cubicBezTo>
                    <a:pt x="2697951" y="1181761"/>
                    <a:pt x="2652231" y="1209701"/>
                    <a:pt x="2605241" y="1231291"/>
                  </a:cubicBezTo>
                  <a:cubicBezTo>
                    <a:pt x="2559521" y="1251611"/>
                    <a:pt x="2457921" y="1278281"/>
                    <a:pt x="2457921" y="1278281"/>
                  </a:cubicBezTo>
                </a:path>
              </a:pathLst>
            </a:custGeom>
            <a:solidFill>
              <a:srgbClr val="193D7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980747" y="2907982"/>
            <a:ext cx="2883217" cy="2011680"/>
            <a:chOff x="0" y="0"/>
            <a:chExt cx="3844290" cy="2682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800" y="45581"/>
              <a:ext cx="3744063" cy="2585859"/>
            </a:xfrm>
            <a:custGeom>
              <a:avLst/>
              <a:gdLst/>
              <a:ahLst/>
              <a:cxnLst/>
              <a:rect r="r" b="b" t="t" l="l"/>
              <a:pathLst>
                <a:path h="2585859" w="3744063">
                  <a:moveTo>
                    <a:pt x="0" y="1240929"/>
                  </a:moveTo>
                  <a:cubicBezTo>
                    <a:pt x="323850" y="424319"/>
                    <a:pt x="920750" y="363359"/>
                    <a:pt x="1123950" y="337959"/>
                  </a:cubicBezTo>
                  <a:cubicBezTo>
                    <a:pt x="1214120" y="326529"/>
                    <a:pt x="1286510" y="360819"/>
                    <a:pt x="1322070" y="343039"/>
                  </a:cubicBezTo>
                  <a:cubicBezTo>
                    <a:pt x="1338580" y="334149"/>
                    <a:pt x="1338580" y="313829"/>
                    <a:pt x="1350010" y="302399"/>
                  </a:cubicBezTo>
                  <a:cubicBezTo>
                    <a:pt x="1361440" y="289699"/>
                    <a:pt x="1384300" y="279539"/>
                    <a:pt x="1393190" y="269379"/>
                  </a:cubicBezTo>
                  <a:cubicBezTo>
                    <a:pt x="1398270" y="263029"/>
                    <a:pt x="1397000" y="254139"/>
                    <a:pt x="1402080" y="250329"/>
                  </a:cubicBezTo>
                  <a:cubicBezTo>
                    <a:pt x="1407160" y="245249"/>
                    <a:pt x="1416050" y="249059"/>
                    <a:pt x="1427480" y="243979"/>
                  </a:cubicBezTo>
                  <a:cubicBezTo>
                    <a:pt x="1452880" y="231279"/>
                    <a:pt x="1494790" y="181749"/>
                    <a:pt x="1543050" y="156349"/>
                  </a:cubicBezTo>
                  <a:cubicBezTo>
                    <a:pt x="1604010" y="124599"/>
                    <a:pt x="1692910" y="94119"/>
                    <a:pt x="1771650" y="81419"/>
                  </a:cubicBezTo>
                  <a:cubicBezTo>
                    <a:pt x="1849120" y="68719"/>
                    <a:pt x="1982470" y="77609"/>
                    <a:pt x="2012950" y="82689"/>
                  </a:cubicBezTo>
                  <a:cubicBezTo>
                    <a:pt x="2019300" y="83959"/>
                    <a:pt x="2018030" y="86499"/>
                    <a:pt x="2025650" y="86499"/>
                  </a:cubicBezTo>
                  <a:cubicBezTo>
                    <a:pt x="2059940" y="87769"/>
                    <a:pt x="2261870" y="-25261"/>
                    <a:pt x="2336800" y="5219"/>
                  </a:cubicBezTo>
                  <a:cubicBezTo>
                    <a:pt x="2404110" y="33159"/>
                    <a:pt x="2415540" y="180479"/>
                    <a:pt x="2471420" y="227469"/>
                  </a:cubicBezTo>
                  <a:cubicBezTo>
                    <a:pt x="2515870" y="265569"/>
                    <a:pt x="2586990" y="298589"/>
                    <a:pt x="2625090" y="289699"/>
                  </a:cubicBezTo>
                  <a:cubicBezTo>
                    <a:pt x="2651760" y="283349"/>
                    <a:pt x="2659380" y="246519"/>
                    <a:pt x="2684780" y="226199"/>
                  </a:cubicBezTo>
                  <a:cubicBezTo>
                    <a:pt x="2719070" y="196989"/>
                    <a:pt x="2769870" y="163969"/>
                    <a:pt x="2815590" y="141109"/>
                  </a:cubicBezTo>
                  <a:cubicBezTo>
                    <a:pt x="2862580" y="118249"/>
                    <a:pt x="2913380" y="101739"/>
                    <a:pt x="2962910" y="90309"/>
                  </a:cubicBezTo>
                  <a:cubicBezTo>
                    <a:pt x="3013710" y="80149"/>
                    <a:pt x="3067050" y="75069"/>
                    <a:pt x="3117850" y="76339"/>
                  </a:cubicBezTo>
                  <a:cubicBezTo>
                    <a:pt x="3169920" y="78879"/>
                    <a:pt x="3221990" y="86499"/>
                    <a:pt x="3271520" y="100469"/>
                  </a:cubicBezTo>
                  <a:cubicBezTo>
                    <a:pt x="3322320" y="114439"/>
                    <a:pt x="3370580" y="134759"/>
                    <a:pt x="3416300" y="160159"/>
                  </a:cubicBezTo>
                  <a:cubicBezTo>
                    <a:pt x="3460750" y="185559"/>
                    <a:pt x="3503930" y="217309"/>
                    <a:pt x="3540760" y="252869"/>
                  </a:cubicBezTo>
                  <a:cubicBezTo>
                    <a:pt x="3578860" y="287159"/>
                    <a:pt x="3613150" y="329069"/>
                    <a:pt x="3641090" y="372249"/>
                  </a:cubicBezTo>
                  <a:cubicBezTo>
                    <a:pt x="3669030" y="415429"/>
                    <a:pt x="3691890" y="463689"/>
                    <a:pt x="3708400" y="511949"/>
                  </a:cubicBezTo>
                  <a:cubicBezTo>
                    <a:pt x="3726180" y="560209"/>
                    <a:pt x="3736340" y="613549"/>
                    <a:pt x="3741420" y="664349"/>
                  </a:cubicBezTo>
                  <a:cubicBezTo>
                    <a:pt x="3746500" y="715149"/>
                    <a:pt x="3743960" y="768489"/>
                    <a:pt x="3736340" y="819289"/>
                  </a:cubicBezTo>
                  <a:cubicBezTo>
                    <a:pt x="3728720" y="871359"/>
                    <a:pt x="3714750" y="922159"/>
                    <a:pt x="3694430" y="970419"/>
                  </a:cubicBezTo>
                  <a:cubicBezTo>
                    <a:pt x="3675380" y="1017409"/>
                    <a:pt x="3618230" y="1105039"/>
                    <a:pt x="3618230" y="1105039"/>
                  </a:cubicBezTo>
                  <a:cubicBezTo>
                    <a:pt x="3618230" y="1105039"/>
                    <a:pt x="3486150" y="1296809"/>
                    <a:pt x="3431540" y="1367929"/>
                  </a:cubicBezTo>
                  <a:cubicBezTo>
                    <a:pt x="3390900" y="1418729"/>
                    <a:pt x="3357880" y="1437779"/>
                    <a:pt x="3321050" y="1496199"/>
                  </a:cubicBezTo>
                  <a:cubicBezTo>
                    <a:pt x="3260090" y="1592719"/>
                    <a:pt x="3242310" y="1792109"/>
                    <a:pt x="3138170" y="1910219"/>
                  </a:cubicBezTo>
                  <a:cubicBezTo>
                    <a:pt x="3013710" y="2052459"/>
                    <a:pt x="2580640" y="2245499"/>
                    <a:pt x="2578100" y="2248039"/>
                  </a:cubicBezTo>
                  <a:cubicBezTo>
                    <a:pt x="2576830" y="2248039"/>
                    <a:pt x="2526030" y="2268359"/>
                    <a:pt x="2501900" y="2278519"/>
                  </a:cubicBezTo>
                  <a:cubicBezTo>
                    <a:pt x="2480310" y="2287409"/>
                    <a:pt x="2458720" y="2291219"/>
                    <a:pt x="2439670" y="2303919"/>
                  </a:cubicBezTo>
                  <a:cubicBezTo>
                    <a:pt x="2420620" y="2316619"/>
                    <a:pt x="2406650" y="2338209"/>
                    <a:pt x="2388870" y="2355989"/>
                  </a:cubicBezTo>
                  <a:cubicBezTo>
                    <a:pt x="2369820" y="2376309"/>
                    <a:pt x="2327910" y="2419489"/>
                    <a:pt x="2326640" y="2420759"/>
                  </a:cubicBezTo>
                  <a:cubicBezTo>
                    <a:pt x="2325370" y="2420759"/>
                    <a:pt x="2275840" y="2452509"/>
                    <a:pt x="2250440" y="2467749"/>
                  </a:cubicBezTo>
                  <a:cubicBezTo>
                    <a:pt x="2225040" y="2484259"/>
                    <a:pt x="2176780" y="2514739"/>
                    <a:pt x="2175510" y="2516009"/>
                  </a:cubicBezTo>
                  <a:cubicBezTo>
                    <a:pt x="2174240" y="2516009"/>
                    <a:pt x="2118360" y="2533789"/>
                    <a:pt x="2090420" y="2543949"/>
                  </a:cubicBezTo>
                  <a:cubicBezTo>
                    <a:pt x="2061210" y="2552839"/>
                    <a:pt x="2006600" y="2571889"/>
                    <a:pt x="2005330" y="2571889"/>
                  </a:cubicBezTo>
                  <a:cubicBezTo>
                    <a:pt x="2004060" y="2571889"/>
                    <a:pt x="1945640" y="2575699"/>
                    <a:pt x="1916430" y="2578239"/>
                  </a:cubicBezTo>
                  <a:cubicBezTo>
                    <a:pt x="1885950" y="2580779"/>
                    <a:pt x="1827530" y="2585859"/>
                    <a:pt x="1826260" y="2585859"/>
                  </a:cubicBezTo>
                  <a:cubicBezTo>
                    <a:pt x="1826260" y="2585859"/>
                    <a:pt x="1826260" y="2584589"/>
                    <a:pt x="1826260" y="2584589"/>
                  </a:cubicBezTo>
                  <a:cubicBezTo>
                    <a:pt x="1826260" y="2584589"/>
                    <a:pt x="1826260" y="2585859"/>
                    <a:pt x="1826260" y="2585859"/>
                  </a:cubicBezTo>
                  <a:cubicBezTo>
                    <a:pt x="1824990" y="2584589"/>
                    <a:pt x="1767840" y="2575699"/>
                    <a:pt x="1738630" y="2570619"/>
                  </a:cubicBezTo>
                  <a:cubicBezTo>
                    <a:pt x="1709420" y="2565539"/>
                    <a:pt x="1651000" y="2556649"/>
                    <a:pt x="1649730" y="2555379"/>
                  </a:cubicBezTo>
                  <a:cubicBezTo>
                    <a:pt x="1648460" y="2555379"/>
                    <a:pt x="1595120" y="2532519"/>
                    <a:pt x="1568450" y="2519819"/>
                  </a:cubicBezTo>
                  <a:cubicBezTo>
                    <a:pt x="1540510" y="2508389"/>
                    <a:pt x="1487170" y="2485529"/>
                    <a:pt x="1485900" y="2485529"/>
                  </a:cubicBezTo>
                  <a:cubicBezTo>
                    <a:pt x="1484630" y="2484259"/>
                    <a:pt x="1437640" y="2448699"/>
                    <a:pt x="1414780" y="2430919"/>
                  </a:cubicBezTo>
                  <a:cubicBezTo>
                    <a:pt x="1390650" y="2413139"/>
                    <a:pt x="1343660" y="2377579"/>
                    <a:pt x="1343660" y="2376309"/>
                  </a:cubicBezTo>
                  <a:cubicBezTo>
                    <a:pt x="1342390" y="2376309"/>
                    <a:pt x="1305560" y="2330589"/>
                    <a:pt x="1286510" y="2307729"/>
                  </a:cubicBezTo>
                  <a:cubicBezTo>
                    <a:pt x="1267460" y="2283599"/>
                    <a:pt x="1230630" y="2239149"/>
                    <a:pt x="1230630" y="2237879"/>
                  </a:cubicBezTo>
                  <a:cubicBezTo>
                    <a:pt x="1230630" y="2236609"/>
                    <a:pt x="1228090" y="2204859"/>
                    <a:pt x="1214120" y="2194699"/>
                  </a:cubicBezTo>
                  <a:cubicBezTo>
                    <a:pt x="1191260" y="2178189"/>
                    <a:pt x="1135380" y="2195969"/>
                    <a:pt x="1069340" y="2189619"/>
                  </a:cubicBezTo>
                  <a:cubicBezTo>
                    <a:pt x="929640" y="2174379"/>
                    <a:pt x="585470" y="2202319"/>
                    <a:pt x="412750" y="2074049"/>
                  </a:cubicBezTo>
                  <a:cubicBezTo>
                    <a:pt x="209550" y="1921649"/>
                    <a:pt x="0" y="1240929"/>
                    <a:pt x="0" y="1240929"/>
                  </a:cubicBezTo>
                </a:path>
              </a:pathLst>
            </a:custGeom>
            <a:solidFill>
              <a:srgbClr val="07132B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200550"/>
            <a:ext cx="2705846" cy="3086450"/>
            <a:chOff x="0" y="0"/>
            <a:chExt cx="712651" cy="812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2651" cy="812892"/>
            </a:xfrm>
            <a:custGeom>
              <a:avLst/>
              <a:gdLst/>
              <a:ahLst/>
              <a:cxnLst/>
              <a:rect r="r" b="b" t="t" l="l"/>
              <a:pathLst>
                <a:path h="812892" w="712651">
                  <a:moveTo>
                    <a:pt x="0" y="0"/>
                  </a:moveTo>
                  <a:lnTo>
                    <a:pt x="712651" y="0"/>
                  </a:lnTo>
                  <a:lnTo>
                    <a:pt x="712651" y="812892"/>
                  </a:lnTo>
                  <a:lnTo>
                    <a:pt x="0" y="812892"/>
                  </a:lnTo>
                  <a:close/>
                </a:path>
              </a:pathLst>
            </a:custGeom>
            <a:solidFill>
              <a:srgbClr val="FE753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2651" cy="850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537995" y="1028700"/>
            <a:ext cx="3873670" cy="2707919"/>
            <a:chOff x="0" y="0"/>
            <a:chExt cx="1020226" cy="7131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0226" cy="713197"/>
            </a:xfrm>
            <a:custGeom>
              <a:avLst/>
              <a:gdLst/>
              <a:ahLst/>
              <a:cxnLst/>
              <a:rect r="r" b="b" t="t" l="l"/>
              <a:pathLst>
                <a:path h="713197" w="1020226">
                  <a:moveTo>
                    <a:pt x="0" y="0"/>
                  </a:moveTo>
                  <a:lnTo>
                    <a:pt x="1020226" y="0"/>
                  </a:lnTo>
                  <a:lnTo>
                    <a:pt x="1020226" y="713197"/>
                  </a:lnTo>
                  <a:lnTo>
                    <a:pt x="0" y="713197"/>
                  </a:lnTo>
                  <a:close/>
                </a:path>
              </a:pathLst>
            </a:custGeom>
            <a:solidFill>
              <a:srgbClr val="FE753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20226" cy="751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31266" y="697509"/>
            <a:ext cx="14025468" cy="8891982"/>
          </a:xfrm>
          <a:custGeom>
            <a:avLst/>
            <a:gdLst/>
            <a:ahLst/>
            <a:cxnLst/>
            <a:rect r="r" b="b" t="t" l="l"/>
            <a:pathLst>
              <a:path h="8891982" w="14025468">
                <a:moveTo>
                  <a:pt x="0" y="0"/>
                </a:moveTo>
                <a:lnTo>
                  <a:pt x="14025468" y="0"/>
                </a:lnTo>
                <a:lnTo>
                  <a:pt x="14025468" y="8891982"/>
                </a:lnTo>
                <a:lnTo>
                  <a:pt x="0" y="8891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06" t="0" r="-6174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414" y="727974"/>
            <a:ext cx="15459171" cy="8831052"/>
          </a:xfrm>
          <a:custGeom>
            <a:avLst/>
            <a:gdLst/>
            <a:ahLst/>
            <a:cxnLst/>
            <a:rect r="r" b="b" t="t" l="l"/>
            <a:pathLst>
              <a:path h="8831052" w="15459171">
                <a:moveTo>
                  <a:pt x="0" y="0"/>
                </a:moveTo>
                <a:lnTo>
                  <a:pt x="15459172" y="0"/>
                </a:lnTo>
                <a:lnTo>
                  <a:pt x="15459172" y="8831052"/>
                </a:lnTo>
                <a:lnTo>
                  <a:pt x="0" y="8831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465837" y="141062"/>
            <a:ext cx="9297418" cy="88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3"/>
              </a:lnSpc>
            </a:pPr>
            <a:r>
              <a:rPr lang="en-US" b="true" sz="6083" spc="182">
                <a:solidFill>
                  <a:srgbClr val="FFBF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Carta Gantt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6271" y="5724494"/>
            <a:ext cx="3621633" cy="686315"/>
          </a:xfrm>
          <a:custGeom>
            <a:avLst/>
            <a:gdLst/>
            <a:ahLst/>
            <a:cxnLst/>
            <a:rect r="r" b="b" t="t" l="l"/>
            <a:pathLst>
              <a:path h="686315" w="3621633">
                <a:moveTo>
                  <a:pt x="0" y="0"/>
                </a:moveTo>
                <a:lnTo>
                  <a:pt x="3621633" y="0"/>
                </a:lnTo>
                <a:lnTo>
                  <a:pt x="3621633" y="686316"/>
                </a:lnTo>
                <a:lnTo>
                  <a:pt x="0" y="686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09023" y="5724494"/>
            <a:ext cx="3621633" cy="686315"/>
          </a:xfrm>
          <a:custGeom>
            <a:avLst/>
            <a:gdLst/>
            <a:ahLst/>
            <a:cxnLst/>
            <a:rect r="r" b="b" t="t" l="l"/>
            <a:pathLst>
              <a:path h="686315" w="3621633">
                <a:moveTo>
                  <a:pt x="0" y="0"/>
                </a:moveTo>
                <a:lnTo>
                  <a:pt x="3621633" y="0"/>
                </a:lnTo>
                <a:lnTo>
                  <a:pt x="3621633" y="686316"/>
                </a:lnTo>
                <a:lnTo>
                  <a:pt x="0" y="686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41747" y="5724494"/>
            <a:ext cx="3621633" cy="686315"/>
          </a:xfrm>
          <a:custGeom>
            <a:avLst/>
            <a:gdLst/>
            <a:ahLst/>
            <a:cxnLst/>
            <a:rect r="r" b="b" t="t" l="l"/>
            <a:pathLst>
              <a:path h="686315" w="3621633">
                <a:moveTo>
                  <a:pt x="0" y="0"/>
                </a:moveTo>
                <a:lnTo>
                  <a:pt x="3621633" y="0"/>
                </a:lnTo>
                <a:lnTo>
                  <a:pt x="3621633" y="686316"/>
                </a:lnTo>
                <a:lnTo>
                  <a:pt x="0" y="686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09372" y="5724494"/>
            <a:ext cx="3621633" cy="686315"/>
          </a:xfrm>
          <a:custGeom>
            <a:avLst/>
            <a:gdLst/>
            <a:ahLst/>
            <a:cxnLst/>
            <a:rect r="r" b="b" t="t" l="l"/>
            <a:pathLst>
              <a:path h="686315" w="3621633">
                <a:moveTo>
                  <a:pt x="0" y="0"/>
                </a:moveTo>
                <a:lnTo>
                  <a:pt x="3621633" y="0"/>
                </a:lnTo>
                <a:lnTo>
                  <a:pt x="3621633" y="686316"/>
                </a:lnTo>
                <a:lnTo>
                  <a:pt x="0" y="686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89946" y="4346311"/>
            <a:ext cx="654283" cy="654283"/>
          </a:xfrm>
          <a:custGeom>
            <a:avLst/>
            <a:gdLst/>
            <a:ahLst/>
            <a:cxnLst/>
            <a:rect r="r" b="b" t="t" l="l"/>
            <a:pathLst>
              <a:path h="654283" w="654283">
                <a:moveTo>
                  <a:pt x="0" y="0"/>
                </a:moveTo>
                <a:lnTo>
                  <a:pt x="654283" y="0"/>
                </a:lnTo>
                <a:lnTo>
                  <a:pt x="654283" y="654283"/>
                </a:lnTo>
                <a:lnTo>
                  <a:pt x="0" y="654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46779"/>
            <a:ext cx="8405504" cy="186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6500" spc="19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Roadmap de ejecución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1279" y="5874295"/>
            <a:ext cx="3131617" cy="3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b="true" sz="20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Fase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3053" y="6582260"/>
            <a:ext cx="5061312" cy="3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0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Planificación y Diseño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0725" y="7101130"/>
            <a:ext cx="4132724" cy="215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0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Levantamiento de requerimientos, diseño del modelo Entidad-Relación (MER) y configuración inicial del proyecto.</a:t>
            </a:r>
          </a:p>
          <a:p>
            <a:pPr algn="ctr">
              <a:lnSpc>
                <a:spcPts val="29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554031" y="5874295"/>
            <a:ext cx="3131617" cy="3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b="true" sz="20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Fase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38494" y="6582260"/>
            <a:ext cx="5061312" cy="70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0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Desarrollo Core</a:t>
            </a:r>
          </a:p>
          <a:p>
            <a:pPr algn="l">
              <a:lnSpc>
                <a:spcPts val="29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053477" y="7101130"/>
            <a:ext cx="4132724" cy="179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0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Implementación de Autenticación, Roles, Módulo de Cargas y desarrollo de mantenedores (CRUD).</a:t>
            </a:r>
          </a:p>
          <a:p>
            <a:pPr algn="ctr">
              <a:lnSpc>
                <a:spcPts val="29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686755" y="5874295"/>
            <a:ext cx="3131617" cy="3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b="true" sz="20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Fase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86755" y="6582260"/>
            <a:ext cx="5061312" cy="70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0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y Clientes</a:t>
            </a:r>
          </a:p>
          <a:p>
            <a:pPr algn="l">
              <a:lnSpc>
                <a:spcPts val="29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186201" y="7101130"/>
            <a:ext cx="4132724" cy="179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0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Construcción de la vista para clientes, Panel de Control interactivo e integraciones externas.</a:t>
            </a:r>
          </a:p>
          <a:p>
            <a:pPr algn="ctr">
              <a:lnSpc>
                <a:spcPts val="29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3954380" y="5874295"/>
            <a:ext cx="3131617" cy="3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b="true" sz="20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Fase 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53116" y="6582260"/>
            <a:ext cx="5484002" cy="3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07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QA y Despliegue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53827" y="7101130"/>
            <a:ext cx="4132724" cy="179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0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Pruebas de estrés, correcciones finales, despliegue en VPS y entrega de manuales técnicos.</a:t>
            </a:r>
          </a:p>
          <a:p>
            <a:pPr algn="ctr">
              <a:lnSpc>
                <a:spcPts val="2900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792698" y="4346311"/>
            <a:ext cx="654283" cy="654283"/>
          </a:xfrm>
          <a:custGeom>
            <a:avLst/>
            <a:gdLst/>
            <a:ahLst/>
            <a:cxnLst/>
            <a:rect r="r" b="b" t="t" l="l"/>
            <a:pathLst>
              <a:path h="654283" w="654283">
                <a:moveTo>
                  <a:pt x="0" y="0"/>
                </a:moveTo>
                <a:lnTo>
                  <a:pt x="654283" y="0"/>
                </a:lnTo>
                <a:lnTo>
                  <a:pt x="654283" y="654283"/>
                </a:lnTo>
                <a:lnTo>
                  <a:pt x="0" y="654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999806" y="4346311"/>
            <a:ext cx="654283" cy="654283"/>
          </a:xfrm>
          <a:custGeom>
            <a:avLst/>
            <a:gdLst/>
            <a:ahLst/>
            <a:cxnLst/>
            <a:rect r="r" b="b" t="t" l="l"/>
            <a:pathLst>
              <a:path h="654283" w="654283">
                <a:moveTo>
                  <a:pt x="0" y="0"/>
                </a:moveTo>
                <a:lnTo>
                  <a:pt x="654283" y="0"/>
                </a:lnTo>
                <a:lnTo>
                  <a:pt x="654283" y="654283"/>
                </a:lnTo>
                <a:lnTo>
                  <a:pt x="0" y="654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193047" y="4346311"/>
            <a:ext cx="654283" cy="654283"/>
          </a:xfrm>
          <a:custGeom>
            <a:avLst/>
            <a:gdLst/>
            <a:ahLst/>
            <a:cxnLst/>
            <a:rect r="r" b="b" t="t" l="l"/>
            <a:pathLst>
              <a:path h="654283" w="654283">
                <a:moveTo>
                  <a:pt x="0" y="0"/>
                </a:moveTo>
                <a:lnTo>
                  <a:pt x="654283" y="0"/>
                </a:lnTo>
                <a:lnTo>
                  <a:pt x="654283" y="654283"/>
                </a:lnTo>
                <a:lnTo>
                  <a:pt x="0" y="654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220553" y="2552700"/>
          <a:ext cx="5657850" cy="6700838"/>
        </p:xfrm>
        <a:graphic>
          <a:graphicData uri="http://schemas.openxmlformats.org/presentationml/2006/ole">
            <p:oleObj imgW="6997700" imgH="8039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646779"/>
            <a:ext cx="12142970" cy="186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6500" spc="19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Priorización de Épicas</a:t>
            </a:r>
          </a:p>
          <a:p>
            <a:pPr algn="l">
              <a:lnSpc>
                <a:spcPts val="728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14804" y="-1254466"/>
            <a:ext cx="13030037" cy="1303003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66750" cap="sq">
              <a:solidFill>
                <a:srgbClr val="FE753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519005" y="3504432"/>
            <a:ext cx="2786169" cy="3868903"/>
            <a:chOff x="0" y="0"/>
            <a:chExt cx="705805" cy="9800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5805" cy="980088"/>
            </a:xfrm>
            <a:custGeom>
              <a:avLst/>
              <a:gdLst/>
              <a:ahLst/>
              <a:cxnLst/>
              <a:rect r="r" b="b" t="t" l="l"/>
              <a:pathLst>
                <a:path h="980088" w="705805">
                  <a:moveTo>
                    <a:pt x="203200" y="0"/>
                  </a:moveTo>
                  <a:lnTo>
                    <a:pt x="705805" y="0"/>
                  </a:lnTo>
                  <a:lnTo>
                    <a:pt x="502605" y="980088"/>
                  </a:lnTo>
                  <a:lnTo>
                    <a:pt x="0" y="98008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ED43F">
                    <a:alpha val="100000"/>
                  </a:srgbClr>
                </a:gs>
                <a:gs pos="100000">
                  <a:srgbClr val="254B94">
                    <a:alpha val="265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57150"/>
              <a:ext cx="502605" cy="1037238"/>
            </a:xfrm>
            <a:prstGeom prst="rect">
              <a:avLst/>
            </a:prstGeom>
          </p:spPr>
          <p:txBody>
            <a:bodyPr anchor="ctr" rtlCol="false" tIns="52815" lIns="52815" bIns="52815" rIns="52815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89210" y="4272636"/>
            <a:ext cx="2536468" cy="3868903"/>
            <a:chOff x="0" y="0"/>
            <a:chExt cx="642549" cy="9800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2549" cy="980088"/>
            </a:xfrm>
            <a:custGeom>
              <a:avLst/>
              <a:gdLst/>
              <a:ahLst/>
              <a:cxnLst/>
              <a:rect r="r" b="b" t="t" l="l"/>
              <a:pathLst>
                <a:path h="980088" w="642549">
                  <a:moveTo>
                    <a:pt x="203200" y="0"/>
                  </a:moveTo>
                  <a:lnTo>
                    <a:pt x="642549" y="0"/>
                  </a:lnTo>
                  <a:lnTo>
                    <a:pt x="439349" y="980088"/>
                  </a:lnTo>
                  <a:lnTo>
                    <a:pt x="0" y="980088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54B94">
                    <a:alpha val="26500"/>
                  </a:srgbClr>
                </a:gs>
                <a:gs pos="100000">
                  <a:srgbClr val="FED43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57150"/>
              <a:ext cx="439349" cy="1037238"/>
            </a:xfrm>
            <a:prstGeom prst="rect">
              <a:avLst/>
            </a:prstGeom>
          </p:spPr>
          <p:txBody>
            <a:bodyPr anchor="ctr" rtlCol="false" tIns="52815" lIns="52815" bIns="52815" rIns="52815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862321" y="3621905"/>
            <a:ext cx="10563358" cy="273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9"/>
              </a:lnSpc>
              <a:spcBef>
                <a:spcPct val="0"/>
              </a:spcBef>
            </a:pPr>
            <a:r>
              <a:rPr lang="en-US" sz="15999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DAHT3_y1t58</dc:identifier>
  <dcterms:modified xsi:type="dcterms:W3CDTF">2011-08-01T06:04:30Z</dcterms:modified>
  <cp:revision>1</cp:revision>
  <dc:title>Blue Orange Modern Logistic Presentation</dc:title>
</cp:coreProperties>
</file>